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  <p:sldMasterId id="2147483696" r:id="rId5"/>
  </p:sldMasterIdLst>
  <p:notesMasterIdLst>
    <p:notesMasterId r:id="rId8"/>
  </p:notesMasterIdLst>
  <p:handoutMasterIdLst>
    <p:handoutMasterId r:id="rId9"/>
  </p:handoutMasterIdLst>
  <p:sldIdLst>
    <p:sldId id="256" r:id="rId6"/>
    <p:sldId id="257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020B0D-6F11-480E-6D5B-1C8B4C4D5B13}" name="Susan Robinson" initials="SR" userId="S::susan.robinson@ba.com::bd9a80f1-9417-4c5f-a51c-c43c10bbe4ea" providerId="AD"/>
  <p188:author id="{0DB60536-BDA6-B3E9-DDC1-435976C94759}" name="Sandra Green" initials="SG" userId="S::sandra.green@ba.com::2185cfad-8141-4ae4-81aa-22841564645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Robinson" initials="SR" lastIdx="1" clrIdx="0">
    <p:extLst>
      <p:ext uri="{19B8F6BF-5375-455C-9EA6-DF929625EA0E}">
        <p15:presenceInfo xmlns:p15="http://schemas.microsoft.com/office/powerpoint/2012/main" userId="S::susan.robinson@ba.com::bd9a80f1-9417-4c5f-a51c-c43c10bbe4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574"/>
    <a:srgbClr val="BCCFEC"/>
    <a:srgbClr val="ADD1D7"/>
    <a:srgbClr val="F6F6F6"/>
    <a:srgbClr val="E47874"/>
    <a:srgbClr val="BEB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9144AA-ACC6-476D-8307-9B1E921DD77E}" v="76" dt="2025-12-16T16:45:34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FD8FC5-53C5-1443-9915-3AD6E5146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BDE66-419A-C942-BD40-DBE6EF083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C3862-9A0E-8D45-8851-D3D1E9E79E3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5892D-D1DF-524A-995F-C2AC70EDD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7BF9-7D54-9542-A137-65D3B7AB8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9D33C-CC47-D941-BA46-9DC756C74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35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19FAC-6822-5D45-B6D7-159040EBDA1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E1B22-2DBE-1B42-9AD7-8EA3C1BAF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9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ABBA Confident Blue)">
    <p:bg>
      <p:bgPr>
        <a:solidFill>
          <a:srgbClr val="0B5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B57CF7-57C6-0A40-B1F2-2B6C75EAF4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4550"/>
                </a:schemeClr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9C2A4-908C-CC4D-886F-D63CEFE6C9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1300" y="2619351"/>
            <a:ext cx="6629400" cy="2387600"/>
          </a:xfrm>
        </p:spPr>
        <p:txBody>
          <a:bodyPr anchor="ctr">
            <a:normAutofit/>
          </a:bodyPr>
          <a:lstStyle>
            <a:lvl1pPr algn="ctr">
              <a:defRPr sz="4800" cap="all" baseline="0">
                <a:ln w="22225">
                  <a:solidFill>
                    <a:schemeClr val="tx1"/>
                  </a:solidFill>
                </a:ln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AB31-5DD6-FF49-8ADF-E3D5407890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264622"/>
            <a:ext cx="9144000" cy="8704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A27A5A19-5A06-0542-ACEE-E9C0FD0BF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3068" y="858819"/>
            <a:ext cx="1605864" cy="399469"/>
          </a:xfrm>
          <a:prstGeom prst="rect">
            <a:avLst/>
          </a:prstGeom>
        </p:spPr>
      </p:pic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27C31EAC-3710-F943-BE5E-2D615FF5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6230124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9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6B38141-EC7F-BEE3-92F4-3D7770E58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11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3337616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0E61-84B1-4AFC-B45F-6282A9D9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29384-1523-4337-B839-96FA617E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1D9E-D27F-4554-BE6E-550908FE1FBE}" type="datetime1">
              <a:rPr lang="en-GB" smtClean="0"/>
              <a:pPr/>
              <a:t>16/12/2025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9385B3-85E9-4023-BC4A-ADA40024170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47675" y="1676401"/>
            <a:ext cx="10749412" cy="4429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7938" indent="0">
              <a:buNone/>
              <a:tabLst/>
              <a:defRPr sz="1400"/>
            </a:lvl2pPr>
            <a:lvl3pPr marL="447675" indent="-188913">
              <a:tabLst/>
              <a:defRPr sz="1200"/>
            </a:lvl3pPr>
            <a:lvl4pPr marL="715963" indent="-233363">
              <a:tabLst/>
              <a:defRPr sz="1100"/>
            </a:lvl4pPr>
            <a:lvl5pPr marL="984250" indent="-233363">
              <a:tabLst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478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A0E0B4F7-25A6-07E6-ABB4-145D294D87B4}"/>
              </a:ext>
            </a:extLst>
          </p:cNvPr>
          <p:cNvSpPr txBox="1">
            <a:spLocks/>
          </p:cNvSpPr>
          <p:nvPr userDrawn="1"/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 spc="150" baseline="0">
                <a:solidFill>
                  <a:schemeClr val="tx1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105943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600">
          <a:ln w="19050">
            <a:solidFill>
              <a:schemeClr val="bg1"/>
            </a:solidFill>
          </a:ln>
          <a:noFill/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CAE110-9424-BA48-83B0-E7C192BA04BD}"/>
              </a:ext>
            </a:extLst>
          </p:cNvPr>
          <p:cNvSpPr/>
          <p:nvPr userDrawn="1"/>
        </p:nvSpPr>
        <p:spPr>
          <a:xfrm>
            <a:off x="0" y="0"/>
            <a:ext cx="12192000" cy="1045029"/>
          </a:xfrm>
          <a:prstGeom prst="rect">
            <a:avLst/>
          </a:prstGeom>
          <a:solidFill>
            <a:srgbClr val="ADD1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82D79-3D00-3A42-BD93-6B3D72B8C049}"/>
              </a:ext>
            </a:extLst>
          </p:cNvPr>
          <p:cNvSpPr txBox="1"/>
          <p:nvPr userDrawn="1"/>
        </p:nvSpPr>
        <p:spPr>
          <a:xfrm>
            <a:off x="256583" y="6591386"/>
            <a:ext cx="45505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0" i="0" spc="0" dirty="0">
                <a:solidFill>
                  <a:srgbClr val="BEB3B2"/>
                </a:solidFill>
                <a:latin typeface="Mylius Modern" panose="020B0504020202020204" pitchFamily="34" charset="0"/>
              </a:rPr>
              <a:t>FOR PURPOSES OF FORAGE VIRTUAL WORK EXPERIENCE PROGRAM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54ABC8-9A94-4548-9736-C4C7B4C0BAE2}"/>
              </a:ext>
            </a:extLst>
          </p:cNvPr>
          <p:cNvSpPr txBox="1">
            <a:spLocks/>
          </p:cNvSpPr>
          <p:nvPr userDrawn="1"/>
        </p:nvSpPr>
        <p:spPr>
          <a:xfrm>
            <a:off x="11251474" y="6583692"/>
            <a:ext cx="710068" cy="18466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1BACC82-5A65-4E43-B4FE-801ED5E2C88E}" type="slidenum">
              <a:rPr lang="en-GB" sz="700" b="0" i="0" smtClean="0">
                <a:solidFill>
                  <a:srgbClr val="BEB3B2"/>
                </a:solidFill>
                <a:latin typeface="Mylius Modern" panose="020B0504020202020204" pitchFamily="34" charset="0"/>
              </a:rPr>
              <a:pPr algn="r"/>
              <a:t>‹#›</a:t>
            </a:fld>
            <a:endParaRPr lang="en-GB" sz="1000" b="0" i="0">
              <a:solidFill>
                <a:srgbClr val="BEB3B2"/>
              </a:solidFill>
              <a:latin typeface="Mylius Modern" panose="020B05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8A772E0-A577-FA4A-8DD2-882CD356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2" y="323488"/>
            <a:ext cx="8797438" cy="44286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282FE7E8-8ACE-C049-AD78-27A9B8AC9B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0753" y="368300"/>
            <a:ext cx="1046285" cy="26027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33239F7-E119-B84B-937E-C500AF04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92159" y="6622164"/>
            <a:ext cx="2741736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GB" sz="700" b="0" i="0" cap="all" spc="110" baseline="0" smtClean="0">
                <a:solidFill>
                  <a:srgbClr val="BEB3B2"/>
                </a:solidFill>
                <a:latin typeface="Mylius Modern" panose="020B0504020202020204" pitchFamily="34" charset="0"/>
              </a:defRPr>
            </a:lvl1pPr>
          </a:lstStyle>
          <a:p>
            <a:fld id="{0CBD1D9E-D27F-4554-BE6E-550908FE1FBE}" type="datetime1">
              <a:rPr lang="en-GB" smtClean="0"/>
              <a:pPr/>
              <a:t>16/12/2025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1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 cap="all" spc="600" baseline="0">
          <a:solidFill>
            <a:schemeClr val="bg1"/>
          </a:solidFill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theforage.com/virtual-internships/NjynCWzGSaWXQCxS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8FAAD5-BEA6-D647-CD8F-9337612F1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073" y="4128655"/>
            <a:ext cx="9531927" cy="1056485"/>
          </a:xfrm>
        </p:spPr>
        <p:txBody>
          <a:bodyPr>
            <a:normAutofit/>
          </a:bodyPr>
          <a:lstStyle/>
          <a:p>
            <a:r>
              <a:rPr lang="en-US" b="1" dirty="0"/>
              <a:t>Predicting customer buying </a:t>
            </a:r>
            <a:r>
              <a:rPr lang="en-US" b="1" dirty="0" err="1"/>
              <a:t>behaviour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E56-6498-6C34-D5D9-05A0333B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5109953"/>
            <a:ext cx="9144000" cy="2516124"/>
          </a:xfrm>
        </p:spPr>
        <p:txBody>
          <a:bodyPr lIns="91440" tIns="45720" rIns="91440" bIns="45720" anchor="ctr">
            <a:spAutoFit/>
          </a:bodyPr>
          <a:lstStyle/>
          <a:p>
            <a:r>
              <a:rPr lang="en-GB" sz="1600" dirty="0">
                <a:latin typeface="Mylius Modern"/>
              </a:rPr>
              <a:t>20/11/2025</a:t>
            </a:r>
            <a:endParaRPr lang="en-GB" sz="1600" dirty="0"/>
          </a:p>
        </p:txBody>
      </p:sp>
      <p:pic>
        <p:nvPicPr>
          <p:cNvPr id="1026" name="Picture 2" descr="British Airways logo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994" y="2482910"/>
            <a:ext cx="679730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48C8D8-EC0F-A331-0A89-9B49E1E3EC55}"/>
              </a:ext>
            </a:extLst>
          </p:cNvPr>
          <p:cNvSpPr txBox="1"/>
          <p:nvPr/>
        </p:nvSpPr>
        <p:spPr>
          <a:xfrm>
            <a:off x="5292345" y="5642368"/>
            <a:ext cx="22819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Name: Yogesh Londhe</a:t>
            </a:r>
          </a:p>
        </p:txBody>
      </p:sp>
    </p:spTree>
    <p:extLst>
      <p:ext uri="{BB962C8B-B14F-4D97-AF65-F5344CB8AC3E}">
        <p14:creationId xmlns:p14="http://schemas.microsoft.com/office/powerpoint/2010/main" val="13063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9EE2-AB7B-7C0C-1FC8-20E35CF4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2" y="323488"/>
            <a:ext cx="10587564" cy="442867"/>
          </a:xfrm>
        </p:spPr>
        <p:txBody>
          <a:bodyPr/>
          <a:lstStyle/>
          <a:p>
            <a:r>
              <a:rPr lang="en-US" sz="2000" b="1" dirty="0"/>
              <a:t>predictive model to understand factors that influence buying </a:t>
            </a:r>
            <a:r>
              <a:rPr lang="en-US" sz="2000" b="1" dirty="0" err="1"/>
              <a:t>behaviour</a:t>
            </a:r>
            <a:endParaRPr lang="en-GB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2B97B-A940-5016-BA5F-A9A5A4B44DC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3672" y="1288474"/>
            <a:ext cx="10749412" cy="4429124"/>
          </a:xfrm>
        </p:spPr>
        <p:txBody>
          <a:bodyPr/>
          <a:lstStyle/>
          <a:p>
            <a:r>
              <a:rPr lang="en-US" sz="1800" b="0" dirty="0">
                <a:solidFill>
                  <a:schemeClr val="accent6">
                    <a:lumMod val="50000"/>
                  </a:schemeClr>
                </a:solidFill>
              </a:rPr>
              <a:t>We have trained the data set with Random forest classifier model </a:t>
            </a:r>
            <a:r>
              <a:rPr lang="en-US" sz="1800" b="0">
                <a:solidFill>
                  <a:schemeClr val="accent6">
                    <a:lumMod val="50000"/>
                  </a:schemeClr>
                </a:solidFill>
              </a:rPr>
              <a:t>and received </a:t>
            </a:r>
            <a:endParaRPr lang="en-US" sz="1800" b="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1800" dirty="0"/>
              <a:t>ACCURACY: 85.09 </a:t>
            </a:r>
          </a:p>
          <a:p>
            <a:r>
              <a:rPr lang="en-US" sz="1800" dirty="0"/>
              <a:t>AUC score: 0.558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/>
              <a:t>route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booking_origin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flight_duration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wants_extra_baggage</a:t>
            </a:r>
            <a:endParaRPr lang="en-US" sz="1800" b="0" dirty="0"/>
          </a:p>
          <a:p>
            <a:pPr marL="342900" indent="-342900">
              <a:buFont typeface="+mj-lt"/>
              <a:buAutoNum type="arabicPeriod"/>
            </a:pPr>
            <a:r>
              <a:rPr lang="en-US" sz="1800" b="0" dirty="0" err="1"/>
              <a:t>length_of_stay</a:t>
            </a:r>
            <a:endParaRPr lang="en-US" sz="1800" b="0" dirty="0"/>
          </a:p>
          <a:p>
            <a:r>
              <a:rPr lang="en-US" sz="1800" b="0" dirty="0"/>
              <a:t>are the top 5 features which influence </a:t>
            </a:r>
          </a:p>
          <a:p>
            <a:r>
              <a:rPr lang="en-US" sz="1800" b="0" dirty="0"/>
              <a:t>Customer buying behavior </a:t>
            </a:r>
            <a:endParaRPr lang="en-US" sz="18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GB" sz="20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We need to increase the AUC score.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194" y="1941428"/>
            <a:ext cx="6607751" cy="35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96362"/>
      </p:ext>
    </p:extLst>
  </p:cSld>
  <p:clrMapOvr>
    <a:masterClrMapping/>
  </p:clrMapOvr>
</p:sld>
</file>

<file path=ppt/theme/theme1.xml><?xml version="1.0" encoding="utf-8"?>
<a:theme xmlns:a="http://schemas.openxmlformats.org/drawingml/2006/main" name="Section Heading">
  <a:themeElements>
    <a:clrScheme name="British Original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B5574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3C29D505-96C1-4D86-8FE8-F692CDCBF9EA}"/>
    </a:ext>
  </a:extLst>
</a:theme>
</file>

<file path=ppt/theme/theme2.xml><?xml version="1.0" encoding="utf-8"?>
<a:theme xmlns:a="http://schemas.openxmlformats.org/drawingml/2006/main" name="Slide Body - Curious Blue (ABBA)">
  <a:themeElements>
    <a:clrScheme name="A BETTER BA">
      <a:dk1>
        <a:srgbClr val="0B5574"/>
      </a:dk1>
      <a:lt1>
        <a:srgbClr val="F6F6F6"/>
      </a:lt1>
      <a:dk2>
        <a:srgbClr val="BEB3B2"/>
      </a:dk2>
      <a:lt2>
        <a:srgbClr val="FFFFFF"/>
      </a:lt2>
      <a:accent1>
        <a:srgbClr val="ADD1D7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A3D2D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97BF301D-186A-4A22-8E4C-E1F994A484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94255C9F47049B367F00913BED969" ma:contentTypeVersion="8" ma:contentTypeDescription="Create a new document." ma:contentTypeScope="" ma:versionID="669976127e9d99054ee2095d187ec24b">
  <xsd:schema xmlns:xsd="http://www.w3.org/2001/XMLSchema" xmlns:xs="http://www.w3.org/2001/XMLSchema" xmlns:p="http://schemas.microsoft.com/office/2006/metadata/properties" xmlns:ns2="86177072-acf3-469b-be5f-1201de6410bb" xmlns:ns3="81b85e46-be1c-4d4d-af3f-3ff4749bae08" targetNamespace="http://schemas.microsoft.com/office/2006/metadata/properties" ma:root="true" ma:fieldsID="480bda1865dbc1f7ead824dac06b125f" ns2:_="" ns3:_="">
    <xsd:import namespace="86177072-acf3-469b-be5f-1201de6410bb"/>
    <xsd:import namespace="81b85e46-be1c-4d4d-af3f-3ff4749ba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77072-acf3-469b-be5f-1201de641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85e46-be1c-4d4d-af3f-3ff4749ba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1b85e46-be1c-4d4d-af3f-3ff4749bae08">
      <UserInfo>
        <DisplayName>Sarah Barr Miller</DisplayName>
        <AccountId>10</AccountId>
        <AccountType/>
      </UserInfo>
      <UserInfo>
        <DisplayName>Sandra Green</DisplayName>
        <AccountId>41</AccountId>
        <AccountType/>
      </UserInfo>
      <UserInfo>
        <DisplayName>Hazel Chesters</DisplayName>
        <AccountId>42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73D82A4-28C2-4B97-A470-A3247BBF4B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1A6194-F0BD-4282-83C9-95DFBAD1B667}">
  <ds:schemaRefs>
    <ds:schemaRef ds:uri="81b85e46-be1c-4d4d-af3f-3ff4749bae08"/>
    <ds:schemaRef ds:uri="86177072-acf3-469b-be5f-1201de6410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0A2C6C-ACEB-4D76-A29E-B1C9FEC52B8B}">
  <ds:schemaRefs>
    <ds:schemaRef ds:uri="http://purl.org/dc/elements/1.1/"/>
    <ds:schemaRef ds:uri="http://schemas.openxmlformats.org/package/2006/metadata/core-properties"/>
    <ds:schemaRef ds:uri="86177072-acf3-469b-be5f-1201de6410bb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81b85e46-be1c-4d4d-af3f-3ff4749bae08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57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Section Heading</vt:lpstr>
      <vt:lpstr>Slide Body - Curious Blue (ABBA)</vt:lpstr>
      <vt:lpstr>PowerPoint Presentation</vt:lpstr>
      <vt:lpstr>predictive model to understand factors that influence buying behaviour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 Data Access Controls</dc:title>
  <dc:subject/>
  <dc:creator>Jake Pearce</dc:creator>
  <cp:keywords/>
  <dc:description/>
  <cp:lastModifiedBy>Kavya</cp:lastModifiedBy>
  <cp:revision>26</cp:revision>
  <cp:lastPrinted>2022-06-09T07:44:13Z</cp:lastPrinted>
  <dcterms:created xsi:type="dcterms:W3CDTF">2022-02-22T07:39:05Z</dcterms:created>
  <dcterms:modified xsi:type="dcterms:W3CDTF">2025-12-16T16:46:28Z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0x01010082594255C9F47049B367F00913BED969</vt:lpwstr>
  </property>
</Properties>
</file>